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DD3FC"/>
                </a:solidFill>
                <a:latin typeface="Inter"/>
              </a:rPr>
              <a:t>NORTHEASTERN  ·  GROUP PROJECT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1" i="0">
                <a:solidFill>
                  <a:srgbClr val="F8FAFC"/>
                </a:solidFill>
                <a:latin typeface="Inter"/>
              </a:rPr>
              <a:t>ForeRoute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  <a:latin typeface="Inter"/>
              </a:rPr>
              <a:t>Know the road before you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120" y="443484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94A3B8"/>
                </a:solidFill>
                <a:latin typeface="Inter"/>
              </a:rPr>
              <a:t>A weather-aware safe-routing app, with two scores per route — one for the conditions right now, one for what crashes have actually happened on every street.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Inter"/>
              </a:rPr>
              <a:t>[member 1]   ·   [member 2]   ·   [member 3]   ·   [member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 · 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Fastest is not the same as safest.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Today's navigation apps optimise for time. None of them ask the question that matters on a snowy Tuesday morning.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11535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1018001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7DD3FC"/>
                </a:solidFill>
                <a:latin typeface="Inter"/>
              </a:rPr>
              <a:t>"Is this trip safe today, on these roads?"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Inter"/>
              </a:rPr>
              <a:t>ForeRoute answers two questions, separately, in plain language: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148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Inter"/>
              </a:rPr>
              <a:t>•  </a:t>
            </a:r>
            <a:r>
              <a:rPr sz="1800" b="1" i="0">
                <a:solidFill>
                  <a:srgbClr val="F8FAFC"/>
                </a:solidFill>
                <a:latin typeface="Inter"/>
              </a:rPr>
              <a:t>How dangerous is the weather right now?</a:t>
            </a:r>
            <a:r>
              <a:rPr sz="1500" b="0" i="0">
                <a:solidFill>
                  <a:srgbClr val="94A3B8"/>
                </a:solidFill>
                <a:latin typeface="Inter"/>
              </a:rPr>
              <a:t>  Snow, ice, hydroplaning rain, low visibility, wind, tricky road types.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38BDF8"/>
                </a:solidFill>
                <a:latin typeface="Inter"/>
              </a:rPr>
              <a:t>•  </a:t>
            </a:r>
            <a:r>
              <a:rPr sz="1800" b="1" i="0">
                <a:solidFill>
                  <a:srgbClr val="F8FAFC"/>
                </a:solidFill>
                <a:latin typeface="Inter"/>
              </a:rPr>
              <a:t>How crash-prone is this route, based on what's actually happened here before?</a:t>
            </a:r>
            <a:r>
              <a:rPr sz="1500" b="0" i="0">
                <a:solidFill>
                  <a:srgbClr val="94A3B8"/>
                </a:solidFill>
                <a:latin typeface="Inter"/>
              </a:rPr>
              <a:t>  Eight years of real Boston crash records, by location and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2 · TWO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Built side by side. We even flag when they disagree.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One number can't honestly answer both "how should I drive?" and "which route should I pick?". So we don't 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272887" cy="3383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Inter"/>
              </a:rPr>
              <a:t>WEATHER RIGHT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39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Inter"/>
              </a:rPr>
              <a:t>Is right now known-adverse?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8156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Built on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The physics of driving — hand-tuned rules.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Loud when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Snow on a bridge. Freezing rain. Fog.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Quiet when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Mild, clear weather.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Always on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Runs even if the model is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331720"/>
            <a:ext cx="5272887" cy="3383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CRASH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834639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Inter"/>
              </a:rPr>
              <a:t>Is this road crashier than typical?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429000"/>
            <a:ext cx="48156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Built on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Real Boston crashes, 2018–2025.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Loud when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Crashy corridor at rush hour.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Quiet when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Quiet residential streets at off-peak.</a:t>
            </a:r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sz="1300" b="1" i="0">
                <a:solidFill>
                  <a:srgbClr val="94A3B8"/>
                </a:solidFill>
                <a:latin typeface="Inter"/>
              </a:rPr>
              <a:t>Always on</a:t>
            </a:r>
            <a:r>
              <a:rPr sz="1400" b="0" i="0">
                <a:solidFill>
                  <a:srgbClr val="F8FAFC"/>
                </a:solidFill>
                <a:latin typeface="Inter"/>
              </a:rPr>
              <a:t>   Fallbacks if the model is unavailable.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7DD3FC"/>
                </a:solidFill>
                <a:latin typeface="Inter"/>
              </a:rPr>
              <a:t>Disagreement is useful information. The UI flags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3 · WHERE THE DATA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Three real, public sources — no synthetic data behind the production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Every row in our training set is anchored on a real event in the City of Boston.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3317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486400"/>
                <a:gridCol w="2194560"/>
              </a:tblGrid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What we use it for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What we got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Boston Vision Zero Crash Records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Every positive example is a real, dated, police-reported crash.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38BDF8"/>
                          </a:solidFill>
                          <a:latin typeface="Inter"/>
                        </a:rPr>
                        <a:t>22,260 crashes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Open-Meteo Historical Weather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The exact conditions at every crash's location and hour.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8 years of hourly data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Mapbox Streets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Classifies each location as highway, arterial, residential, bridge, tunnel, mountain.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Real road type, per point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51206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Inter"/>
              </a:rPr>
              <a:t>No survey data, no simulated weather, no toy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548640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4A3B8"/>
                </a:solidFill>
                <a:latin typeface="Inter"/>
              </a:rPr>
              <a:t>If a model is going to advise drivers on safety, it should be trained on actual incidents — not on a generated approximation.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4 · HOW WE CLEANED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Five rules that shaped the final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Cleaning is where most machine-learning projects either succeed or quietly fail.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3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500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Bounding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24327"/>
            <a:ext cx="10042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Only crashes inside the Boston metro made it in. Anything outside is tagged so the model can later say "I don't know about this area."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067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632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Eight-year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37560"/>
            <a:ext cx="10042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2018–2025. Older records reflect a different vehicle mix, signal timing, and road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0390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7647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Valid coordinates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50791"/>
            <a:ext cx="10042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Records missing latitude, longitude, or a timestamp were discarded.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1713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171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89703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Time-of-event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64024"/>
            <a:ext cx="10042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Every crash was paired with the historical weather at the hour and place it actually happened — not a daily average.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3036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3036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029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No future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477256"/>
            <a:ext cx="10042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When we count nearby crashes as a feature, we strictly use crashes that happened before the sample's own timestamp.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5 · THE NEGATIVES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How do we train a model on "nothing happened here"?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Real crashes give us positives. The model also needs examples of when nothing went wrong — and that part is surprisingly tricky.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272887" cy="3383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Inter"/>
              </a:rPr>
              <a:t>THE NAIVE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Inter"/>
              </a:rPr>
              <a:t>Drop random points across Boston.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8156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The model learned a shortcut:
"Residential streets = safe."
That isn't really true. It just reflected that crashes cluster on arterials and our random negatives mostly landed on quiet residential roads.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331720"/>
            <a:ext cx="5272887" cy="3383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49631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Inter"/>
              </a:rPr>
              <a:t>WHAT WE DID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78892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Inter"/>
              </a:rPr>
              <a:t>Anchor every negative on a real crash spot.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429000"/>
            <a:ext cx="481568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Each negative sits about 55 metres from an actual crash, at a random time when no crash happened there.
Negatives and positives now live on the same kinds of roads. The model is forced to learn when a crash happens at a given place, not 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6 · WHAT THE MODEL LOOKS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Fifteen inputs, grouped into five families.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Six of these were added late in development — and they lifted accuracy by roughly five points on the same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Inter"/>
              </a:rPr>
              <a:t>WEATHER  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7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temperature   ·   precipitation type   ·   precipitation intensity
wind   ·   visibility   ·   humidity   ·   dew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77439"/>
            <a:ext cx="3870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The physics of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ROAD 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road type   ·   segment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090672"/>
            <a:ext cx="3870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A bridge is not a residential street.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0390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LOCATION  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1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latitude   ·   longitude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803903"/>
            <a:ext cx="3870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Two segments of the same road can be very different.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17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TIME 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64024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hour of day   ·   day of week   ·  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17136"/>
            <a:ext cx="3870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Rush hour ≠ 3 AM. Friday ≠ Tuesday.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30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Inter"/>
              </a:rPr>
              <a:t>CRASH HISTORY  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7725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crashes within 100 metres in the prior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230368"/>
            <a:ext cx="3870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Past crashes are the strongest predictor of future 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7 · THE THREE MODELS WE TRAINED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Three deliberately different algorithms — compared fairly.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If a complex model can't beat a simple one, the complexity isn't earning its keep.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3454298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9970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A transparent baseline. The fitted tree can be drawn out and audited — "if it's snowing and below 2 °C, then high risk". Our sanity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2331720"/>
            <a:ext cx="3454298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56032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Inter"/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971800"/>
            <a:ext cx="29970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The standard production-grade choice for table-shaped data. Captures interactions like snow × cold × bridge automatically. Well-behaved out of the 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2331720"/>
            <a:ext cx="3454298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256032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NEURAL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971800"/>
            <a:ext cx="29970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A non-linear contrast to trees, with a completely different inductive bias. Tells us whether deep models buy us anything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8 · WHICH ONE WON,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Gradient Boosting won on ranking quality and is the registered production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Numbers below are at the conventional 0.5 threshold. The operating point for a safety advisory is different — see the next slide.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3317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1463040"/>
                <a:gridCol w="146304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Ranking quality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Precision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Recall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F1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Decision Tree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0.636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0.37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0.25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0.30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38BDF8"/>
                          </a:solidFill>
                          <a:latin typeface="Inter"/>
                        </a:rPr>
                        <a:t>Gradient Boosting  ← registered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38BDF8"/>
                          </a:solidFill>
                          <a:latin typeface="Inter"/>
                        </a:rPr>
                        <a:t>0.651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0.39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0.25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0.30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Neural Network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0.610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0.32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0.40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0.36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526279"/>
            <a:ext cx="10911535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Inter"/>
              </a:rPr>
              <a:t>AN HONEST READ OF 0.65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79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8FAFC"/>
                </a:solidFill>
                <a:latin typeface="Inter"/>
              </a:rPr>
              <a:t>Published crash-prediction work using weather features sits in the 0.65 – 0.75 band. We are at the bottom of that band on purpose.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79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Most crashes happen in mild weather because most driving happens in mild weather. The model honestly stays near typical instead of pretending to be confident.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9 · PRECISION AND RECALL, IN 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Two questions that matter for a safety advisory.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These are not just metrics — they translate directly into real costs for the driver.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272887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Inter"/>
              </a:rPr>
              <a:t>RECALL  ·  THRESHOLD 0.35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8FAFC"/>
                </a:solidFill>
                <a:latin typeface="Inter"/>
              </a:rPr>
              <a:t>"Of all the genuinely crashy segments, how many did we catch?"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Inter"/>
              </a:rPr>
              <a:t>0.84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94A3B8"/>
                </a:solidFill>
                <a:latin typeface="Inter"/>
              </a:rPr>
              <a:t>84 % of real crash situations caught. We operate at the F1-optimal threshold — the data itself nominates this as the best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331720"/>
            <a:ext cx="5272887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256032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PRECISION  ·  THRESHOLD 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88036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8FAFC"/>
                </a:solidFill>
                <a:latin typeface="Inter"/>
              </a:rPr>
              <a:t>"When we say crash risk is high, how often is it actually high?"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794760"/>
            <a:ext cx="47242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Inter"/>
              </a:rPr>
              <a:t>0.31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1772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94A3B8"/>
                </a:solidFill>
                <a:latin typeface="Inter"/>
              </a:rPr>
              <a:t>The cost of catching 84 % of real crashes. Acceptable for a safety advisory: over-warning is much cheaper than missing.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7DD3FC"/>
                </a:solidFill>
                <a:latin typeface="Inter"/>
              </a:rPr>
              <a:t>F1 at this threshold is 0.449 — strictly better than every other threshold. The conventional 0.5 cutoff would catch only 25 %.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10 · THE SYSTEM,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How a single search travels through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Five external services and one in-house model, composed in a single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91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31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77439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User types two locations; geolocation auto-fills the From field.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626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352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Mapbox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80944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Returns two or three alternative routes between the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38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OpenWeather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584448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Live conditions at every segment midpoint along each route.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966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14223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Mapbox Streets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87951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Classifies each segment as highway, arterial, residential, etc.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73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4573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MLflow Model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791455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Returns a crash-history probability per segment.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76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492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Web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394959"/>
            <a:ext cx="7071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Runs the rule-based weather score, joins both scores, sends to the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11 · MLFLOW KEEPS US HONEST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The contract between training and serving.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Anything the live app shows can be traced to a specific training run, dataset version, and model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Inter"/>
              </a:rPr>
              <a:t>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Inter"/>
              </a:rPr>
              <a:t>Every training run logs its inputs, metrics, and the trained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423160"/>
            <a:ext cx="32305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If a number in the product looks wrong, we can find the run that produced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9544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0098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Inter"/>
              </a:rPr>
              <a:t>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0098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Inter"/>
              </a:rPr>
              <a:t>The best run gets registered under a stable name with a "production" alias.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300984"/>
            <a:ext cx="32305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The web app calls the alias, not a specific file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87368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7880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Inter"/>
              </a:rPr>
              <a:t>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78807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Inter"/>
              </a:rPr>
              <a:t>MLflow serves the registered model as a web endpoint.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4178807"/>
            <a:ext cx="32305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The web app sends features, gets a probability 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65192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566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Inter"/>
              </a:rPr>
              <a:t>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56631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Inter"/>
              </a:rPr>
              <a:t>Older versions stay in the registry. Promotion and rollback are a single alias flip.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056631"/>
            <a:ext cx="32305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No code change, no redeploy — just a name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12 · WHY A SCORE IS 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Two complementary explanations, one for each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Every number the driver sees can be traced back to its reasons.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272887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Inter"/>
              </a:rPr>
              <a:t>RULE-BASED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47242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Inter"/>
              </a:rPr>
              <a:t>Inherently explained.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72424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8FAFC"/>
                </a:solidFill>
                <a:latin typeface="Inter"/>
              </a:rPr>
              <a:t>Every score decomposes into named factors with named thresholds.
The UI shows each factor as a coloured bar with its description: "snow contributed 18 points", "this road is a bridge so the total was multiplied by 1.5".
No black box — the driver can see exactly why a number is what it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331720"/>
            <a:ext cx="5272887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51460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MACHINE-LEARNED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834639"/>
            <a:ext cx="47242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Inter"/>
              </a:rPr>
              <a:t>Two layers, one shipped, one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429000"/>
            <a:ext cx="472424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 i="0">
                <a:solidFill>
                  <a:srgbClr val="34D399"/>
                </a:solidFill>
                <a:latin typeface="Inter"/>
              </a:rPr>
              <a:t>Globally 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The model tells us which inputs it relies on most. Top contributors are nearby crash history, location, hour of day, and road type.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 i="0">
                <a:solidFill>
                  <a:srgbClr val="FBBF24"/>
                </a:solidFill>
                <a:latin typeface="Inter"/>
              </a:rPr>
              <a:t>Locally (next) 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Per-segment contributions for each specific prediction, surfaced as the same coloured-bar component already used by the rule-based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13 · KEEPING IT HONEST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Three different ways a model can quietly decay.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Each requires a different signal. The framework is the assignment; the implementation is the next iteration.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33172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017520"/>
              </a:tblGrid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Inter"/>
                        </a:rPr>
                        <a:t>Type of drift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Inter"/>
                        </a:rPr>
                        <a:t>What it looks like for ForeRoute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Inter"/>
                        </a:rPr>
                        <a:t>How we'd catch it</a:t>
                      </a:r>
                    </a:p>
                  </a:txBody>
                  <a:tcPr marL="128016" marR="128016" marT="73152" marB="73152">
                    <a:solidFill>
                      <a:srgbClr val="33415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Inter"/>
                        </a:rPr>
                        <a:t>The inputs change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Winter arrives — colder, more snow, less visibility, higher humidity.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Statistical tests on every input, against the original training window.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BBF24"/>
                          </a:solidFill>
                          <a:latin typeface="Inter"/>
                        </a:rPr>
                        <a:t>The proportions change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Boston widens Vision Zero reporting to include cyclist near-misses.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Watch the model's output distribution for shifts.</a:t>
                      </a:r>
                    </a:p>
                  </a:txBody>
                  <a:tcPr marL="128016" marR="128016" marT="73152" marB="73152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Inter"/>
                        </a:rPr>
                        <a:t>The mapping itself changes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New automatic-braking technology makes snowy intersections genuinely safer.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F8FAFC"/>
                          </a:solidFill>
                          <a:latin typeface="Inter"/>
                        </a:rPr>
                        <a:t>Performance drops on freshly-labelled crash data.</a:t>
                      </a:r>
                    </a:p>
                  </a:txBody>
                  <a:tcPr marL="128016" marR="128016" marT="73152" marB="7315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16636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8FAFC"/>
                </a:solidFill>
                <a:latin typeface="Inter"/>
              </a:rPr>
              <a:t>Evidently AI produces a set of monitoring reports for each type of drift. They live next to the model in the repository and re-run on every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14 · HOW WE'D DEPLOY THIS FOR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What turns a working development build into a production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The model is in place. These are the steps a real launch would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7"/>
            <a:ext cx="73152" cy="365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Log every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7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Write each segment's inputs, prediction, and verdict to disk so we can audit decisions and detect drift.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73152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3522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Run drift checks nightly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27832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Compare the last seven days of real traffic against the training distribution. Alert if any input drifts past its threshold.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02736"/>
            <a:ext cx="73152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387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Pull updated crash records quarterly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31336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Boston publishes Vision Zero updates quarterly. We'd retrain and only promote the new version if it beats the current one on the same held-out 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73152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42231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Provide a one-flip 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Previous versions stay in the registry. If a new model regresses, flip the alias back — no redeploy.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9744"/>
            <a:ext cx="73152" cy="3657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4573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Audit per neighbourhood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38344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Make sure the model is roughly as accurate in every part of the metro, not just the average. Crash density is not evenly distributed.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13248"/>
            <a:ext cx="73152" cy="36576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Inter"/>
              </a:rPr>
              <a:t>Publish a model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41848"/>
            <a:ext cx="10500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A one-page summary describing what the model does, what it doesn't do, and what it should never be used for.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DD3FC"/>
                </a:solidFill>
                <a:latin typeface="Inter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Four numbers to remember.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If you remember nothing else from this deck, these.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39"/>
            <a:ext cx="2590723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39"/>
            <a:ext cx="2590723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Inter"/>
              </a:rPr>
              <a:t>89,040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79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Inter"/>
              </a:rPr>
              <a:t>training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80559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22,260 real crashes + 66,780 carefully-chosen negatives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3683" y="2377439"/>
            <a:ext cx="2590723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3683" y="2834639"/>
            <a:ext cx="2590723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7DD3FC"/>
                </a:solidFill>
                <a:latin typeface="Inter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3683" y="4069079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Inter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4480559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Weather, road, location, time, crash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2377439"/>
            <a:ext cx="2590723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2834639"/>
            <a:ext cx="2590723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Inter"/>
              </a:rPr>
              <a:t>0.65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069079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Inter"/>
              </a:rPr>
              <a:t>ranking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480559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Gradient Boosting,
registered as the production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0891" y="2377439"/>
            <a:ext cx="2590723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0891" y="2834639"/>
            <a:ext cx="2590723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0891" y="4069079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Inter"/>
              </a:rPr>
              <a:t>scores in the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771" y="4480559"/>
            <a:ext cx="22249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Weather right now + crash history,
side by side, disagreement flagged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355080"/>
            <a:ext cx="10911535" cy="1371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ForeRoute — Know the road before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7744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8FAFC"/>
                </a:solidFill>
                <a:latin typeface="Inter"/>
              </a:rPr>
              <a:t>Thank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361188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7DD3FC"/>
                </a:solidFill>
                <a:latin typeface="Inter"/>
              </a:rPr>
              <a:t>Live demo at  localhost:3000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Inter"/>
              </a:rPr>
              <a:t>Your location auto-fills the From field. Type any Boston destination to see both scores in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120640"/>
            <a:ext cx="57607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257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Inter"/>
              </a:rPr>
              <a:t>COMPANION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5321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8FAFC"/>
                </a:solidFill>
                <a:latin typeface="Inter"/>
              </a:rPr>
              <a:t>Model card   ·   Full report   ·   Monitoring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Inter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